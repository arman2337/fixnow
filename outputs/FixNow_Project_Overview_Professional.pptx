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fad352530040e6" /><Relationship Type="http://schemas.openxmlformats.org/officeDocument/2006/relationships/extended-properties" Target="/docProps/app.xml" Id="Rba03257e99ab4ff6" /><Relationship Type="http://schemas.openxmlformats.org/officeDocument/2006/relationships/officeDocument" Target="/ppt/presentation.xml" Id="R3820348afae6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334b30c8774d5d"/>
  </p:sldMasterIdLst>
  <p:notesMasterIdLst>
    <p:notesMasterId xmlns:r="http://schemas.openxmlformats.org/officeDocument/2006/relationships" r:id="Rcb17577926d24377"/>
  </p:notesMasterIdLst>
  <p:sldIdLst>
    <p:sldId xmlns:r="http://schemas.openxmlformats.org/officeDocument/2006/relationships" id="256" r:id="R79218e24a9764901"/>
    <p:sldId xmlns:r="http://schemas.openxmlformats.org/officeDocument/2006/relationships" id="257" r:id="R9f1b833ed05147fd"/>
    <p:sldId xmlns:r="http://schemas.openxmlformats.org/officeDocument/2006/relationships" id="258" r:id="Rfe6acae664e5431d"/>
    <p:sldId xmlns:r="http://schemas.openxmlformats.org/officeDocument/2006/relationships" id="259" r:id="R48f0a2a430fa41cb"/>
    <p:sldId xmlns:r="http://schemas.openxmlformats.org/officeDocument/2006/relationships" id="260" r:id="Ra3e3229e36cc49df"/>
    <p:sldId xmlns:r="http://schemas.openxmlformats.org/officeDocument/2006/relationships" id="261" r:id="Rdf20a51b12cc4889"/>
    <p:sldId xmlns:r="http://schemas.openxmlformats.org/officeDocument/2006/relationships" id="262" r:id="Rc6ea112f89974da4"/>
    <p:sldId xmlns:r="http://schemas.openxmlformats.org/officeDocument/2006/relationships" id="263" r:id="R5466a39b15a84f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41994458d45c8" /><Relationship Type="http://schemas.openxmlformats.org/officeDocument/2006/relationships/slideMaster" Target="/ppt/slideMasters/slideMaster1.xml" Id="Rf6334b30c8774d5d" /><Relationship Type="http://schemas.openxmlformats.org/officeDocument/2006/relationships/notesMaster" Target="/ppt/notesMasters/notesMaster1.xml" Id="Rcb17577926d24377" /><Relationship Type="http://schemas.openxmlformats.org/officeDocument/2006/relationships/presProps" Target="/ppt/presProps.xml" Id="R5f8be3c1b174469d" /><Relationship Type="http://schemas.openxmlformats.org/officeDocument/2006/relationships/tableStyles" Target="/ppt/tableStyles.xml" Id="Rc8c74d44859f43ef" /><Relationship Type="http://schemas.openxmlformats.org/officeDocument/2006/relationships/slide" Target="/ppt/slides/slide1.xml" Id="R79218e24a9764901" /><Relationship Type="http://schemas.openxmlformats.org/officeDocument/2006/relationships/slide" Target="/ppt/slides/slide2.xml" Id="R9f1b833ed05147fd" /><Relationship Type="http://schemas.openxmlformats.org/officeDocument/2006/relationships/slide" Target="/ppt/slides/slide3.xml" Id="Rfe6acae664e5431d" /><Relationship Type="http://schemas.openxmlformats.org/officeDocument/2006/relationships/slide" Target="/ppt/slides/slide4.xml" Id="R48f0a2a430fa41cb" /><Relationship Type="http://schemas.openxmlformats.org/officeDocument/2006/relationships/slide" Target="/ppt/slides/slide5.xml" Id="Ra3e3229e36cc49df" /><Relationship Type="http://schemas.openxmlformats.org/officeDocument/2006/relationships/slide" Target="/ppt/slides/slide6.xml" Id="Rdf20a51b12cc4889" /><Relationship Type="http://schemas.openxmlformats.org/officeDocument/2006/relationships/slide" Target="/ppt/slides/slide7.xml" Id="Rc6ea112f89974da4" /><Relationship Type="http://schemas.openxmlformats.org/officeDocument/2006/relationships/slide" Target="/ppt/slides/slide8.xml" Id="R5466a39b15a84f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7e643151534c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1f2bd35d74e89" /><Relationship Type="http://schemas.openxmlformats.org/officeDocument/2006/relationships/notesMaster" Target="/ppt/notesMasters/notesMaster1.xml" Id="R19a7f9eed58240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6aa526a07843cd" /><Relationship Type="http://schemas.openxmlformats.org/officeDocument/2006/relationships/notesMaster" Target="/ppt/notesMasters/notesMaster1.xml" Id="R89bed209806d42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988d54ef464fc4" /><Relationship Type="http://schemas.openxmlformats.org/officeDocument/2006/relationships/notesMaster" Target="/ppt/notesMasters/notesMaster1.xml" Id="R39b5ae51e70147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0c725a3744485a" /><Relationship Type="http://schemas.openxmlformats.org/officeDocument/2006/relationships/notesMaster" Target="/ppt/notesMasters/notesMaster1.xml" Id="R8cdec6e0b42842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cbfe523eaf4e3e" /><Relationship Type="http://schemas.openxmlformats.org/officeDocument/2006/relationships/notesMaster" Target="/ppt/notesMasters/notesMaster1.xml" Id="R377e3138004a40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f1f0334db94c56" /><Relationship Type="http://schemas.openxmlformats.org/officeDocument/2006/relationships/notesMaster" Target="/ppt/notesMasters/notesMaster1.xml" Id="R48b138f13a6b40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e5eb0cd9df41a4" /><Relationship Type="http://schemas.openxmlformats.org/officeDocument/2006/relationships/notesMaster" Target="/ppt/notesMasters/notesMaster1.xml" Id="R27d5b6d518f146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c79e850f7846c7" /><Relationship Type="http://schemas.openxmlformats.org/officeDocument/2006/relationships/notesMaster" Target="/ppt/notesMasters/notesMaster1.xml" Id="R73023b8d9b4f41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bd35d641e4e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d19fc3cea441ed" /><Relationship Type="http://schemas.openxmlformats.org/officeDocument/2006/relationships/slideLayout" Target="/ppt/slideLayouts/slideLayout1.xml" Id="Rac707dca11d248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707dca11d248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4b2662c9d4da8" /><Relationship Type="http://schemas.openxmlformats.org/officeDocument/2006/relationships/image" Target="/ppt/media/image.png" Id="Re40471189db04f18" /><Relationship Type="http://schemas.openxmlformats.org/officeDocument/2006/relationships/notesSlide" Target="/ppt/notesSlides/notesSlide1.xml" Id="Rcfa7736775dd4f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5ddaa7e7c4525" /><Relationship Type="http://schemas.openxmlformats.org/officeDocument/2006/relationships/notesSlide" Target="/ppt/notesSlides/notesSlide2.xml" Id="R64f37299a8194a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30cc3a4fb4ffc" /><Relationship Type="http://schemas.openxmlformats.org/officeDocument/2006/relationships/notesSlide" Target="/ppt/notesSlides/notesSlide3.xml" Id="R5514268c3b2d42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8ba9d96474022" /><Relationship Type="http://schemas.openxmlformats.org/officeDocument/2006/relationships/notesSlide" Target="/ppt/notesSlides/notesSlide4.xml" Id="Recd4725194e94f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46bdb333541ad" /><Relationship Type="http://schemas.openxmlformats.org/officeDocument/2006/relationships/notesSlide" Target="/ppt/notesSlides/notesSlide5.xml" Id="R9685d9f157da4e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57c114df64d10" /><Relationship Type="http://schemas.openxmlformats.org/officeDocument/2006/relationships/notesSlide" Target="/ppt/notesSlides/notesSlide6.xml" Id="R43a2c8ae3c984f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dca9a4f9a4d3e" /><Relationship Type="http://schemas.openxmlformats.org/officeDocument/2006/relationships/notesSlide" Target="/ppt/notesSlides/notesSlide7.xml" Id="Rb50f9dd51bc547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b560205014e0e" /><Relationship Type="http://schemas.openxmlformats.org/officeDocument/2006/relationships/notesSlide" Target="/ppt/notesSlides/notesSlide8.xml" Id="R0c1aef6fa19541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471189db04f18"/>
          <a:srcRect xmlns:a="http://schemas.openxmlformats.org/drawingml/2006/main" l="21274" t="0" r="212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0"/>
            <a:ext cx="7000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636A6-7223-4C22-BBF8-F5A33CE9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73D2A-6EA0-4D78-A703-434AA20D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A329F-83DC-4CC7-98ED-0CE638E4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2ACFF"/>
                </a:solidFill>
              </a:defRPr>
            </a:pPr>
            <a:r>
              <a:rPr sz="975" b="1">
                <a:solidFill>
                  <a:srgbClr val="82ACFF"/>
                </a:solidFill>
              </a:rPr>
              <a:t>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5DF74-068C-4285-A27D-FE7C44CA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5429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Help arrives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when it matters.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5212B-EAE6-4F2C-AE5A-B0593C83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4E1F7"/>
                </a:solidFill>
              </a:defRPr>
            </a:pPr>
            <a:r>
              <a:rPr sz="1725" b="0">
                <a:solidFill>
                  <a:srgbClr val="D4E1F7"/>
                </a:solidFill>
              </a:rPr>
              <a:t>FixNow connects customers with nearby, verified service professionals through a trusted, real-time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8197E-AE29-4BED-8A47-1AE11CA7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76C9B-62B6-4ABF-AF12-433806B3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3A"/>
                </a:solidFill>
              </a:defRPr>
            </a:pPr>
            <a:r>
              <a:rPr sz="1200" b="1">
                <a:solidFill>
                  <a:srgbClr val="071B3A"/>
                </a:solidFill>
              </a:rPr>
              <a:t>Customer • Provider •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F3C75-39D3-4C3A-935E-96716212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2ACFF"/>
                </a:solidFill>
              </a:defRPr>
            </a:pPr>
            <a:r>
              <a:rPr sz="975" b="1">
                <a:solidFill>
                  <a:srgbClr val="82ACFF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0331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05ABA-1481-4BA7-AE39-3AD0C1D8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THE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6FA7B-C622-443B-B931-3C0D8083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B"/>
                </a:solidFill>
              </a:defRPr>
            </a:pPr>
            <a:r>
              <a:rPr sz="3150" b="1">
                <a:solidFill>
                  <a:srgbClr val="10203B"/>
                </a:solidFill>
              </a:rPr>
              <a:t>Local service needs are urgent — but finding help is often uncertain.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33CE1-E935-45A1-8A83-30B23821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7D"/>
                </a:solidFill>
              </a:defRPr>
            </a:pPr>
            <a:r>
              <a:rPr sz="1500" b="0">
                <a:solidFill>
                  <a:srgbClr val="52647D"/>
                </a:solidFill>
              </a:rPr>
              <a:t>Customers need clarity and confidence; qualified providers need a fair, efficient path to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003A7-B88F-4CBF-8CD7-0BEC13DB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25080-6944-4EA4-B96C-0FBA2362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B"/>
                </a:solidFill>
              </a:defRPr>
            </a:pPr>
            <a:r>
              <a:rPr sz="1800" b="1">
                <a:solidFill>
                  <a:srgbClr val="10203B"/>
                </a:solidFill>
              </a:rPr>
              <a:t>Discovery is fragmented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2C625-74FE-4CAE-B871-B1F5365B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D"/>
                </a:solidFill>
              </a:defRPr>
            </a:pPr>
            <a:r>
              <a:rPr sz="1350" b="0">
                <a:solidFill>
                  <a:srgbClr val="52647D"/>
                </a:solidFill>
              </a:rPr>
              <a:t>People waste time searching, comparing, and calling when the need is immediate.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263D3-F4A4-4C60-B000-0644D81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1D91C-0CE0-4CDF-825B-3A2F6A00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B"/>
                </a:solidFill>
              </a:defRPr>
            </a:pPr>
            <a:r>
              <a:rPr sz="1800" b="1">
                <a:solidFill>
                  <a:srgbClr val="10203B"/>
                </a:solidFill>
              </a:rPr>
              <a:t>Trust is hard to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6B672-901F-4B93-BED4-DBC294FE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D"/>
                </a:solidFill>
              </a:defRPr>
            </a:pPr>
            <a:r>
              <a:rPr sz="1350" b="0">
                <a:solidFill>
                  <a:srgbClr val="52647D"/>
                </a:solidFill>
              </a:rPr>
              <a:t>Availability alone does not confirm the right provider, eligibility, or accountability.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EB49D-162A-4CF5-88E8-0AD247B8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19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9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EE4B1-9DD0-40B3-883E-697470F4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B"/>
                </a:solidFill>
              </a:defRPr>
            </a:pPr>
            <a:r>
              <a:rPr sz="1800" b="1">
                <a:solidFill>
                  <a:srgbClr val="10203B"/>
                </a:solidFill>
              </a:rPr>
              <a:t>Progress is invisible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A68D6-5E2A-4CA3-9604-DBB38870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D"/>
                </a:solidFill>
              </a:defRPr>
            </a:pPr>
            <a:r>
              <a:rPr sz="1350" b="0">
                <a:solidFill>
                  <a:srgbClr val="52647D"/>
                </a:solidFill>
              </a:rPr>
              <a:t>Once a request is made, customers need honest updates — not uncertainty.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27782-2575-4E0F-B2F9-EBF029DB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6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279DC-DC84-46DD-86B9-4EB7E3A9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B3A"/>
                </a:solidFill>
              </a:defRPr>
            </a:pPr>
            <a:r>
              <a:rPr sz="1500" b="1">
                <a:solidFill>
                  <a:srgbClr val="071B3A"/>
                </a:solidFill>
              </a:rPr>
              <a:t>FixNow is designed to turn a stressful search into a guided, accountable service journey.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A958B-E487-4FD1-8613-C7990761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91D77-DAF6-44F2-8774-414F5129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47D"/>
                </a:solidFill>
              </a:defRPr>
            </a:pPr>
            <a:r>
              <a:rPr sz="825" b="1">
                <a:solidFill>
                  <a:srgbClr val="52647D"/>
                </a:solidFill>
              </a:rPr>
              <a:t>FIXNOW  /  PROJECT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4FA31-5D99-425C-A0EF-039F8A44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67E7"/>
                </a:solidFill>
              </a:defRPr>
            </a:pPr>
            <a:r>
              <a:rPr sz="900" b="1">
                <a:solidFill>
                  <a:srgbClr val="2767E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0314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822D6-1C52-4388-A6E1-9DB1764C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23481-11AA-4E4A-8718-762547D2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B"/>
                </a:solidFill>
              </a:defRPr>
            </a:pPr>
            <a:r>
              <a:rPr sz="3150" b="1">
                <a:solidFill>
                  <a:srgbClr val="10203B"/>
                </a:solidFill>
              </a:rPr>
              <a:t>One connected experience for requesting, delivering, and operating local services.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786AE-A7FA-4A2F-B443-517FB21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28003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D27DB-8CE9-4C50-8F68-A900EBD4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76650"/>
            <a:ext cx="9782175" cy="36766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2767E7"/>
          </a:solidFill>
          <a:ln xmlns:a="http://schemas.openxmlformats.org/drawingml/2006/main" w="2857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B6E1F-FE15-4D0C-8AE5-F472402B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289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FFD1A-48BF-4426-A194-ED84596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8612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767E7"/>
                </a:solidFill>
              </a:defRPr>
            </a:pPr>
            <a:r>
              <a:rPr sz="1875" b="1">
                <a:solidFill>
                  <a:srgbClr val="2767E7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45632-93DD-468C-9B97-857FD6D8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3CE3B-EBAB-410F-B019-82DAD14A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47D"/>
                </a:solidFill>
              </a:defRPr>
            </a:pPr>
            <a:r>
              <a:rPr sz="1125" b="0">
                <a:solidFill>
                  <a:srgbClr val="52647D"/>
                </a:solidFill>
              </a:rPr>
              <a:t>Discover, request, track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FAA54-7FF8-4047-8732-CC4331F8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7E7"/>
          </a:solidFill>
          <a:ln xmlns:a="http://schemas.openxmlformats.org/drawingml/2006/main" w="19050">
            <a:solidFill>
              <a:srgbClr val="2767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76852-A0B3-4445-9809-52FB81A8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7814A-DBFC-4EFE-B40D-EA152AE4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FixNow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6C2BD-E232-4583-A1F0-BCDBEB5C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005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47D"/>
                </a:solidFill>
              </a:defRPr>
            </a:pPr>
            <a:r>
              <a:rPr sz="1125" b="0">
                <a:solidFill>
                  <a:srgbClr val="52647D"/>
                </a:solidFill>
              </a:rPr>
              <a:t>Validate, coordinate, notify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5BFDE-BF96-4213-A914-29A36E21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289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43101-CCD2-4401-AA0B-1C9C5EE1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8612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767E7"/>
                </a:solidFill>
              </a:defRPr>
            </a:pPr>
            <a:r>
              <a:rPr sz="1875" b="1">
                <a:solidFill>
                  <a:srgbClr val="2767E7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F052B-19FA-4843-9B42-9018D80B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0E791-67FD-44E2-8BCE-D21D9844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47D"/>
                </a:solidFill>
              </a:defRPr>
            </a:pPr>
            <a:r>
              <a:rPr sz="1125" b="0">
                <a:solidFill>
                  <a:srgbClr val="52647D"/>
                </a:solidFill>
              </a:rPr>
              <a:t>Respond, deliver, update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E9E84-E26D-4C34-8A53-09A01AB7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258E6-8685-48F0-86B6-396BB7C7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8612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767E7"/>
                </a:solidFill>
              </a:defRPr>
            </a:pPr>
            <a:r>
              <a:rPr sz="1875" b="1">
                <a:solidFill>
                  <a:srgbClr val="2767E7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B819D-7108-4170-BE33-5B0E2705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0F437-015A-4BD4-ACD2-7AA1A8AF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4005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47D"/>
                </a:solidFill>
              </a:defRPr>
            </a:pPr>
            <a:r>
              <a:rPr sz="1125" b="0">
                <a:solidFill>
                  <a:srgbClr val="52647D"/>
                </a:solidFill>
              </a:rPr>
              <a:t>Guide, review,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20CFF-310E-44A8-993F-1E5AA902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B"/>
                </a:solidFill>
              </a:defRPr>
            </a:pPr>
            <a:r>
              <a:rPr sz="1500" b="1">
                <a:solidFill>
                  <a:srgbClr val="10203B"/>
                </a:solidFill>
              </a:rPr>
              <a:t>Every surface is connected to the same authoritative booking lifecycle.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8135D-542B-419A-BBD8-E6EBE992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18871-9554-4C5B-93F1-F2418A2B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47D"/>
                </a:solidFill>
              </a:defRPr>
            </a:pPr>
            <a:r>
              <a:rPr sz="825" b="1">
                <a:solidFill>
                  <a:srgbClr val="52647D"/>
                </a:solidFill>
              </a:rPr>
              <a:t>FIXNOW  /  PROJECT OVERVIEW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9DCDB-3CF4-498A-859E-3BF794A7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67E7"/>
                </a:solidFill>
              </a:defRPr>
            </a:pPr>
            <a:r>
              <a:rPr sz="900" b="1">
                <a:solidFill>
                  <a:srgbClr val="2767E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83049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0348C-E132-4B96-AEA3-A9151657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CUSTOMER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1A6AC-24DD-4976-86D9-615DEF1A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B"/>
                </a:solidFill>
              </a:defRPr>
            </a:pPr>
            <a:r>
              <a:rPr sz="3150" b="1">
                <a:solidFill>
                  <a:srgbClr val="10203B"/>
                </a:solidFill>
              </a:rPr>
              <a:t>A clear journey from need to confidence.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F42BB-1D61-4E1B-A865-B4A76E7F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098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BD463-9A64-4A9A-82A0-53D75066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7E7"/>
                </a:solidFill>
              </a:defRPr>
            </a:pPr>
            <a:r>
              <a:rPr sz="1650" b="1">
                <a:solidFill>
                  <a:srgbClr val="2767E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AC2A0-4D22-436D-9C5C-CFB087AE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Describe the need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B0C6E-8DCA-401E-A71A-05905ED6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38525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Choose a service category and submit the minimum details needed to begin.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8E01C-26EA-471E-B79E-D73F836A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4098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79F35-390B-4968-9A28-7E88FE2F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7E7"/>
                </a:solidFill>
              </a:defRPr>
            </a:pPr>
            <a:r>
              <a:rPr sz="1650" b="1">
                <a:solidFill>
                  <a:srgbClr val="2767E7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67447-7984-4F96-8454-F57B91B7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194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Follow the booking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45247-3ECA-4FAE-A2DA-F7542D9A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38525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See the current booking state and receive timely, privacy-safe updates.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4AABD-4873-4ACF-A6DA-2549F848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4098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3D8F7-D958-4E7D-BEE6-4C4B6D29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7E7"/>
                </a:solidFill>
              </a:defRPr>
            </a:pPr>
            <a:r>
              <a:rPr sz="1650" b="1">
                <a:solidFill>
                  <a:srgbClr val="2767E7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8B3BC-2668-4157-A0CD-27E5EC7B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194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Track authorized 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65A79-2359-44B3-917B-EB6DFD99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38525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During an active assignment, view only fresh, permitted provider location.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AB28E-7F79-414F-A907-8099466B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24098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561DF-C503-4418-AD9E-03406B56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7E7"/>
                </a:solidFill>
              </a:defRPr>
            </a:pPr>
            <a:r>
              <a:rPr sz="1650" b="1">
                <a:solidFill>
                  <a:srgbClr val="2767E7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2806F-4A18-4033-89B9-2804B8C0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194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Reach a clear 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2DE57-3FA0-4620-9D45-CE8141DD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The experience reconciles to authoritative service state — even after reconnects.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AD474-9040-4C42-9001-B652A9C1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B3A"/>
                </a:solidFill>
              </a:defRPr>
            </a:pPr>
            <a:r>
              <a:rPr sz="2100" b="1">
                <a:solidFill>
                  <a:srgbClr val="071B3A"/>
                </a:solidFill>
              </a:rPr>
              <a:t>The customer never has to guess what happens next.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9D9A6-A976-4437-A02F-8FE7737B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B45EB-43B8-4D10-B659-B7787758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47D"/>
                </a:solidFill>
              </a:defRPr>
            </a:pPr>
            <a:r>
              <a:rPr sz="825" b="1">
                <a:solidFill>
                  <a:srgbClr val="52647D"/>
                </a:solidFill>
              </a:rPr>
              <a:t>FIXNOW  /  PROJECT OVERVIEW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32B10-5BE7-4FF5-89E5-C6E4B36A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67E7"/>
                </a:solidFill>
              </a:defRPr>
            </a:pPr>
            <a:r>
              <a:rPr sz="900" b="1">
                <a:solidFill>
                  <a:srgbClr val="2767E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02255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9F946-3E0A-4CF2-8F6E-BC36506A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PROVIDER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A51CD-4EDE-4C98-B83C-1EEF740F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B"/>
                </a:solidFill>
              </a:defRPr>
            </a:pPr>
            <a:r>
              <a:rPr sz="3150" b="1">
                <a:solidFill>
                  <a:srgbClr val="10203B"/>
                </a:solidFill>
              </a:rPr>
              <a:t>Make it easier for eligible professionals to respond and deliver.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BFD00-3F22-464E-9FEB-066F5991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3815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07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47855-0F18-4B5E-B07C-04526216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B1FF"/>
                </a:solidFill>
              </a:defRPr>
            </a:pPr>
            <a:r>
              <a:rPr sz="975" b="1">
                <a:solidFill>
                  <a:srgbClr val="8AB1FF"/>
                </a:solidFill>
              </a:rPr>
              <a:t>PROVIDER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5FD0F-B72E-4E2E-BE75-47E79DE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323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Right request.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Right moment.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1B179-E978-4A4B-B08D-B3CBF4C1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67175"/>
            <a:ext cx="335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E1F7"/>
                </a:solidFill>
              </a:defRPr>
            </a:pPr>
            <a:r>
              <a:rPr sz="1275" b="0">
                <a:solidFill>
                  <a:srgbClr val="D4E1F7"/>
                </a:solidFill>
              </a:rPr>
              <a:t>Role-aware workflows support availability, assignment, status updates, and controlled live-location sharing during active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5963F-D475-4E02-87FE-151545FC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56D4B-8413-493A-91E1-24B9C7B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Eligibility-aware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BD329-28FC-41F6-B54C-219A775D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Matching considers current participation rules — not just proximity.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67D50-C65F-4A4C-A03F-E382D3C8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A2C43-6157-4596-BAA3-1F131AC3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813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Live, but bounded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C9E6A-3482-4196-8B05-F51048B6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24275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Location sharing is purpose-limited, fresh, and revocable.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BC7E4-8326-4E5F-AB39-6A9CD76F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9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A192C-09B3-4210-9EAA-0451F60C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624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B"/>
                </a:solidFill>
              </a:defRPr>
            </a:pPr>
            <a:r>
              <a:rPr sz="1575" b="1">
                <a:solidFill>
                  <a:srgbClr val="10203B"/>
                </a:solidFill>
              </a:rPr>
              <a:t>Status-led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34476-4B36-43E4-9F81-1639E053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0535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Providers update the service journey as work progresses.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29B4C-4939-4739-BC55-45738D19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50241-DD61-435A-9302-A7FFB221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47D"/>
                </a:solidFill>
              </a:defRPr>
            </a:pPr>
            <a:r>
              <a:rPr sz="825" b="1">
                <a:solidFill>
                  <a:srgbClr val="52647D"/>
                </a:solidFill>
              </a:rPr>
              <a:t>FIXNOW  /  PROJECT OVERVIEW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68BCD-7011-4011-9313-FB32AF57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67E7"/>
                </a:solidFill>
              </a:defRPr>
            </a:pPr>
            <a:r>
              <a:rPr sz="900" b="1">
                <a:solidFill>
                  <a:srgbClr val="2767E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4304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8F532-4DBB-4104-BB98-AFA6DA46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TRUST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4A050-8006-44E7-B389-DF5B01FD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B"/>
                </a:solidFill>
              </a:defRPr>
            </a:pPr>
            <a:r>
              <a:rPr sz="3150" b="1">
                <a:solidFill>
                  <a:srgbClr val="10203B"/>
                </a:solidFill>
              </a:rPr>
              <a:t>Safety and privacy are part of the product — not an afterthought.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1B5CC-E536-4E12-88E6-B55FCF34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2673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47B01-C736-41C8-AADD-35210676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9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31163-DCA1-44D0-93CE-7AA6B11D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19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B"/>
                </a:solidFill>
              </a:defRPr>
            </a:pPr>
            <a:r>
              <a:rPr sz="1650" b="1">
                <a:solidFill>
                  <a:srgbClr val="10203B"/>
                </a:solidFill>
              </a:rPr>
              <a:t>Least-privilege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94FFB-9EF3-4543-B778-44D36671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Roles and permissions are enforced at trusted backend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ADF97-7D62-4A1E-94B1-B2485699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52673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1B994-2D37-4D3D-8B00-97B8DFDF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47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93AAA-337D-4833-A97F-EA9EE826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19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B"/>
                </a:solidFill>
              </a:defRPr>
            </a:pPr>
            <a:r>
              <a:rPr sz="1650" b="1">
                <a:solidFill>
                  <a:srgbClr val="10203B"/>
                </a:solidFill>
              </a:rPr>
              <a:t>Purpose-limited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0A5DA-4345-4B89-8FB6-A51CFF36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0990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Precise location is available only during authorized active service states.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AFF6E-107C-4211-8DEF-69FA108C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52673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2DEF1-CF98-4DEF-8FA5-5083F917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B9E60-7181-4861-BAF7-84F5B27A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B"/>
                </a:solidFill>
              </a:defRPr>
            </a:pPr>
            <a:r>
              <a:rPr sz="1650" b="1">
                <a:solidFill>
                  <a:srgbClr val="10203B"/>
                </a:solidFill>
              </a:rPr>
              <a:t>Honest real-time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402F4-0431-46EC-B34E-81FA7061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720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WebSockets are fast; the backend API remains the source of truth.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8A9B1-6EFA-471E-A4EC-BF2226E2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43375"/>
            <a:ext cx="52673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C1695-BAFA-4F53-9F8A-F7363FDF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410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9D109-0500-4404-AF5E-F4251758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381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B"/>
                </a:solidFill>
              </a:defRPr>
            </a:pPr>
            <a:r>
              <a:rPr sz="1650" b="1">
                <a:solidFill>
                  <a:srgbClr val="10203B"/>
                </a:solidFill>
              </a:rPr>
              <a:t>Auditable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2229D-12D8-4FF8-9ABE-8122964F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7720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D"/>
                </a:solidFill>
              </a:defRPr>
            </a:pPr>
            <a:r>
              <a:rPr sz="1200" b="0">
                <a:solidFill>
                  <a:srgbClr val="52647D"/>
                </a:solidFill>
              </a:rPr>
              <a:t>Security-sensitive and privileged actions can be traced without exposing secrets.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3D9FF-FBF4-4D8F-A414-853A9851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93C75-5932-4131-8FBA-C70FDCF3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47D"/>
                </a:solidFill>
              </a:defRPr>
            </a:pPr>
            <a:r>
              <a:rPr sz="825" b="1">
                <a:solidFill>
                  <a:srgbClr val="52647D"/>
                </a:solidFill>
              </a:rPr>
              <a:t>FIXNOW  /  PROJECT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EE813-55CE-40EC-A05A-CEB65515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67E7"/>
                </a:solidFill>
              </a:defRPr>
            </a:pPr>
            <a:r>
              <a:rPr sz="900" b="1">
                <a:solidFill>
                  <a:srgbClr val="2767E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3924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7C094E-78D3-416F-AE7F-A1DEC6AD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TECHNOLOGY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A3FFE-F128-4CA6-9C01-4407E841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B"/>
                </a:solidFill>
              </a:defRPr>
            </a:pPr>
            <a:r>
              <a:rPr sz="3150" b="1">
                <a:solidFill>
                  <a:srgbClr val="10203B"/>
                </a:solidFill>
              </a:rPr>
              <a:t>A modular, typed architecture built for reliable service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01E67-7D03-474A-802E-E03E779B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57F92-C915-4552-93F3-2A1FCBF9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MOBILE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DC93C-C21B-429D-B523-1E2DED0E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B"/>
                </a:solidFill>
              </a:defRPr>
            </a:pPr>
            <a:r>
              <a:rPr sz="1500" b="1">
                <a:solidFill>
                  <a:srgbClr val="10203B"/>
                </a:solidFill>
              </a:rPr>
              <a:t>Flutter + Dart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E0613-EE7C-4A83-A886-1277C2CF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47D"/>
                </a:solidFill>
              </a:defRPr>
            </a:pPr>
            <a:r>
              <a:rPr sz="1125" b="0">
                <a:solidFill>
                  <a:srgbClr val="52647D"/>
                </a:solidFill>
              </a:rPr>
              <a:t>One role-aware Android &amp; iOS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EA0FA-2EE6-4397-9867-B20FDB75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D8C86-D888-485C-8349-1BD00773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28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0C808-2222-4A3C-B97C-4CF5111E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955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B"/>
                </a:solidFill>
              </a:defRPr>
            </a:pPr>
            <a:r>
              <a:rPr sz="1500" b="1">
                <a:solidFill>
                  <a:srgbClr val="10203B"/>
                </a:solidFill>
              </a:rPr>
              <a:t>NestJS + TypeScript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DC75F-9D01-4BD3-893A-BE173762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3847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47D"/>
                </a:solidFill>
              </a:defRPr>
            </a:pPr>
            <a:r>
              <a:rPr sz="1125" b="0">
                <a:solidFill>
                  <a:srgbClr val="52647D"/>
                </a:solidFill>
              </a:rPr>
              <a:t>Versioned API and domain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914E7-1E84-4DB2-AA7C-B65D27CE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22B9E-53DE-4597-841F-AF071AB8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28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6098E-248B-4080-89CA-8CB14FB0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955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B"/>
                </a:solidFill>
              </a:defRPr>
            </a:pPr>
            <a:r>
              <a:rPr sz="1500" b="1">
                <a:solidFill>
                  <a:srgbClr val="10203B"/>
                </a:solidFill>
              </a:rPr>
              <a:t>PostgreSQL + TypeORM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CB896-A2E1-4903-9038-FA6AB9F5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3847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47D"/>
                </a:solidFill>
              </a:defRPr>
            </a:pPr>
            <a:r>
              <a:rPr sz="1125" b="0">
                <a:solidFill>
                  <a:srgbClr val="52647D"/>
                </a:solidFill>
              </a:rPr>
              <a:t>Authoritative records and migrations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D3110-6B6A-42D3-A6FF-81A32555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E1F75-72E9-4782-8F29-75EA9A7F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REALTIME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60C91-9193-4602-A69D-B4202D57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B"/>
                </a:solidFill>
              </a:defRPr>
            </a:pPr>
            <a:r>
              <a:rPr sz="1500" b="1">
                <a:solidFill>
                  <a:srgbClr val="10203B"/>
                </a:solidFill>
              </a:rPr>
              <a:t>WebSockets + Redis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34DCE-7128-4915-8AB3-998E92BA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47D"/>
                </a:solidFill>
              </a:defRPr>
            </a:pPr>
            <a:r>
              <a:rPr sz="1125" b="0">
                <a:solidFill>
                  <a:srgbClr val="52647D"/>
                </a:solidFill>
              </a:rPr>
              <a:t>Fast projections and ephemeral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6C487-2C76-4C32-8BD3-603EE619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7E262-3E75-4154-92D4-FB347E5E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3BDE9-3668-417C-8D08-E019D754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624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B"/>
                </a:solidFill>
              </a:defRPr>
            </a:pPr>
            <a:r>
              <a:rPr sz="1500" b="1">
                <a:solidFill>
                  <a:srgbClr val="10203B"/>
                </a:solidFill>
              </a:rPr>
              <a:t>Next.js + TypeScript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89649-7649-4998-B368-128F22AF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0535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47D"/>
                </a:solidFill>
              </a:defRPr>
            </a:pPr>
            <a:r>
              <a:rPr sz="1125" b="0">
                <a:solidFill>
                  <a:srgbClr val="52647D"/>
                </a:solidFill>
              </a:rPr>
              <a:t>Operational web experience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3449A-FE55-4481-831F-ADEA9C70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885B92-5AB5-4A93-84C1-766729E2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67E7"/>
                </a:solidFill>
              </a:defRPr>
            </a:pPr>
            <a:r>
              <a:rPr sz="975" b="1">
                <a:solidFill>
                  <a:srgbClr val="2767E7"/>
                </a:solidFill>
              </a:rPr>
              <a:t>MAPS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9A3C1-ED05-45DD-AF07-0B0C09F3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B"/>
                </a:solidFill>
              </a:defRPr>
            </a:pPr>
            <a:r>
              <a:rPr sz="1500" b="1">
                <a:solidFill>
                  <a:srgbClr val="10203B"/>
                </a:solidFill>
              </a:rPr>
              <a:t>Google Maps 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9B0EAA-A381-431B-A105-706E2C84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47D"/>
                </a:solidFill>
              </a:defRPr>
            </a:pPr>
            <a:r>
              <a:rPr sz="1125" b="0">
                <a:solidFill>
                  <a:srgbClr val="52647D"/>
                </a:solidFill>
              </a:rPr>
              <a:t>Replaceable adapter for maps &amp;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664C5-6CA0-455E-9FD3-09A18B7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47C109-B6B4-40A0-B744-57CF7405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47D"/>
                </a:solidFill>
              </a:defRPr>
            </a:pPr>
            <a:r>
              <a:rPr sz="825" b="1">
                <a:solidFill>
                  <a:srgbClr val="52647D"/>
                </a:solidFill>
              </a:rPr>
              <a:t>FIXNOW  /  PROJECT OVERVIEW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1E4ED-3DEE-4E27-85A4-F8092B7D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341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67E7"/>
                </a:solidFill>
              </a:defRPr>
            </a:pPr>
            <a:r>
              <a:rPr sz="900" b="1">
                <a:solidFill>
                  <a:srgbClr val="2767E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2353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A3F3B-F09F-415D-90AB-2D20A08F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2ACFF"/>
                </a:solidFill>
              </a:defRPr>
            </a:pPr>
            <a:r>
              <a:rPr sz="975" b="1">
                <a:solidFill>
                  <a:srgbClr val="82ACFF"/>
                </a:solidFill>
              </a:rPr>
              <a:t>THE FIXNOW PROMISE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1DCF1-2EE1-4DAF-8BE2-CBDAE44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66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 more dependable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way to get help.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792BB-2ECB-4ED7-AC98-38611E52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4E1F7"/>
                </a:solidFill>
              </a:defRPr>
            </a:pPr>
            <a:r>
              <a:rPr sz="1800" b="0">
                <a:solidFill>
                  <a:srgbClr val="D4E1F7"/>
                </a:solidFill>
              </a:rPr>
              <a:t>FixNow brings together people, trusted workflows, and real-time coordination so local services feel clear, safe, and in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B7DB0-6D2D-4EC6-8601-C03DD2E5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00125"/>
            <a:ext cx="320040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F3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33514-66A9-43C4-8E91-F0EDE54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04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509CC-AA6D-483D-9F65-F3595F5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382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CBAAF-8915-4E99-AAE6-CA47A65A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240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8F4"/>
                </a:solidFill>
              </a:defRPr>
            </a:pPr>
            <a:r>
              <a:rPr sz="1125" b="0">
                <a:solidFill>
                  <a:srgbClr val="C8D8F4"/>
                </a:solidFill>
              </a:rPr>
              <a:t>Know what happens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1A515-76D6-4B2B-B4F3-0ACFE77C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9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A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946BF-180E-4A6A-92BA-70109D93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TRUSTED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45F7D-34F4-41B8-9226-42A6F30C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8F4"/>
                </a:solidFill>
              </a:defRPr>
            </a:pPr>
            <a:r>
              <a:rPr sz="1125" b="0">
                <a:solidFill>
                  <a:srgbClr val="C8D8F4"/>
                </a:solidFill>
              </a:rPr>
              <a:t>Access and data stay controlled.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95AE2-96BF-407E-A650-665E24FF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9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9C5CA-6183-4D32-A3C7-EDEAADCE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4802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CONNECTED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9C266-C1AD-4D94-B0C0-6C6582CE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337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8F4"/>
                </a:solidFill>
              </a:defRPr>
            </a:pPr>
            <a:r>
              <a:rPr sz="1125" b="0">
                <a:solidFill>
                  <a:srgbClr val="C8D8F4"/>
                </a:solidFill>
              </a:rPr>
              <a:t>The experience stays in sync.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FE3F1-1D93-4AC5-80A1-A53A56FE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FixNow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B7126-7B7B-4242-8522-151ECF0F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28650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2ACFF"/>
                </a:solidFill>
              </a:defRPr>
            </a:pPr>
            <a:r>
              <a:rPr sz="900" b="1">
                <a:solidFill>
                  <a:srgbClr val="82ACFF"/>
                </a:solidFill>
              </a:rPr>
              <a:t>Project Overview  •  2026</a:t>
            </a:r>
          </a:p>
        </p:txBody>
      </p:sp>
    </p:spTree>
    <p:extLst>
      <p:ext uri="{BB962C8B-B14F-4D97-AF65-F5344CB8AC3E}">
        <p14:creationId xmlns:p14="http://schemas.microsoft.com/office/powerpoint/2010/main" val="726858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2026-08-20T19:08:33.8130000Z</dcterms:created>
  <dcterms:modified xsi:type="dcterms:W3CDTF">2026-08-20T19:08:33.8130000Z</dcterms:modified>
</coreProperties>
</file>