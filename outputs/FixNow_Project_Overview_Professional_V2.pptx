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d60ebc0a943bb" /><Relationship Type="http://schemas.openxmlformats.org/officeDocument/2006/relationships/extended-properties" Target="/docProps/app.xml" Id="Rdccfff7de7084397" /><Relationship Type="http://schemas.openxmlformats.org/officeDocument/2006/relationships/officeDocument" Target="/ppt/presentation.xml" Id="R6867031dffe143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9c299d7b5d4674"/>
  </p:sldMasterIdLst>
  <p:notesMasterIdLst>
    <p:notesMasterId xmlns:r="http://schemas.openxmlformats.org/officeDocument/2006/relationships" r:id="R796ae47b514a438f"/>
  </p:notesMasterIdLst>
  <p:sldIdLst>
    <p:sldId xmlns:r="http://schemas.openxmlformats.org/officeDocument/2006/relationships" id="256" r:id="R5318577cd64f4707"/>
    <p:sldId xmlns:r="http://schemas.openxmlformats.org/officeDocument/2006/relationships" id="257" r:id="R075a9755a9804f6f"/>
    <p:sldId xmlns:r="http://schemas.openxmlformats.org/officeDocument/2006/relationships" id="258" r:id="Rc843c8b713a94deb"/>
    <p:sldId xmlns:r="http://schemas.openxmlformats.org/officeDocument/2006/relationships" id="259" r:id="R005da904e9a84c3f"/>
    <p:sldId xmlns:r="http://schemas.openxmlformats.org/officeDocument/2006/relationships" id="260" r:id="Rae21b19c805a4e56"/>
    <p:sldId xmlns:r="http://schemas.openxmlformats.org/officeDocument/2006/relationships" id="261" r:id="R98db7fea62324396"/>
    <p:sldId xmlns:r="http://schemas.openxmlformats.org/officeDocument/2006/relationships" id="262" r:id="R01b31f27b5ba4d6a"/>
    <p:sldId xmlns:r="http://schemas.openxmlformats.org/officeDocument/2006/relationships" id="263" r:id="R371f0287191842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4dd54e4414a51" /><Relationship Type="http://schemas.openxmlformats.org/officeDocument/2006/relationships/slideMaster" Target="/ppt/slideMasters/slideMaster1.xml" Id="Rf29c299d7b5d4674" /><Relationship Type="http://schemas.openxmlformats.org/officeDocument/2006/relationships/notesMaster" Target="/ppt/notesMasters/notesMaster1.xml" Id="R796ae47b514a438f" /><Relationship Type="http://schemas.openxmlformats.org/officeDocument/2006/relationships/presProps" Target="/ppt/presProps.xml" Id="R3dc558029d774b0a" /><Relationship Type="http://schemas.openxmlformats.org/officeDocument/2006/relationships/tableStyles" Target="/ppt/tableStyles.xml" Id="R7e12d74fc95e4086" /><Relationship Type="http://schemas.openxmlformats.org/officeDocument/2006/relationships/slide" Target="/ppt/slides/slide1.xml" Id="R5318577cd64f4707" /><Relationship Type="http://schemas.openxmlformats.org/officeDocument/2006/relationships/slide" Target="/ppt/slides/slide2.xml" Id="R075a9755a9804f6f" /><Relationship Type="http://schemas.openxmlformats.org/officeDocument/2006/relationships/slide" Target="/ppt/slides/slide3.xml" Id="Rc843c8b713a94deb" /><Relationship Type="http://schemas.openxmlformats.org/officeDocument/2006/relationships/slide" Target="/ppt/slides/slide4.xml" Id="R005da904e9a84c3f" /><Relationship Type="http://schemas.openxmlformats.org/officeDocument/2006/relationships/slide" Target="/ppt/slides/slide5.xml" Id="Rae21b19c805a4e56" /><Relationship Type="http://schemas.openxmlformats.org/officeDocument/2006/relationships/slide" Target="/ppt/slides/slide6.xml" Id="R98db7fea62324396" /><Relationship Type="http://schemas.openxmlformats.org/officeDocument/2006/relationships/slide" Target="/ppt/slides/slide7.xml" Id="R01b31f27b5ba4d6a" /><Relationship Type="http://schemas.openxmlformats.org/officeDocument/2006/relationships/slide" Target="/ppt/slides/slide8.xml" Id="R371f02871918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05799e1a2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f3c0c632e74747" /><Relationship Type="http://schemas.openxmlformats.org/officeDocument/2006/relationships/notesMaster" Target="/ppt/notesMasters/notesMaster1.xml" Id="R910fa9e9660548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4c0d1c7c54bf9" /><Relationship Type="http://schemas.openxmlformats.org/officeDocument/2006/relationships/notesMaster" Target="/ppt/notesMasters/notesMaster1.xml" Id="R4ef7e9e7988c42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d9c13cc03145aa" /><Relationship Type="http://schemas.openxmlformats.org/officeDocument/2006/relationships/notesMaster" Target="/ppt/notesMasters/notesMaster1.xml" Id="R474e8cd5d8c54e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041e4ada8d4869" /><Relationship Type="http://schemas.openxmlformats.org/officeDocument/2006/relationships/notesMaster" Target="/ppt/notesMasters/notesMaster1.xml" Id="Rcdfc2a7901f844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94813f67ef4479" /><Relationship Type="http://schemas.openxmlformats.org/officeDocument/2006/relationships/notesMaster" Target="/ppt/notesMasters/notesMaster1.xml" Id="Rafc16b555c77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389bb03e61416b" /><Relationship Type="http://schemas.openxmlformats.org/officeDocument/2006/relationships/notesMaster" Target="/ppt/notesMasters/notesMaster1.xml" Id="Rcd7de0e633f04b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06afd9317c4ee4" /><Relationship Type="http://schemas.openxmlformats.org/officeDocument/2006/relationships/notesMaster" Target="/ppt/notesMasters/notesMaster1.xml" Id="R603a9911e8cc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81fb6c2b804e11" /><Relationship Type="http://schemas.openxmlformats.org/officeDocument/2006/relationships/notesMaster" Target="/ppt/notesMasters/notesMaster1.xml" Id="R278c0b72d25f45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e007310f145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8b4efc03a94f79" /><Relationship Type="http://schemas.openxmlformats.org/officeDocument/2006/relationships/slideLayout" Target="/ppt/slideLayouts/slideLayout1.xml" Id="R13f22b83511f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f22b83511f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054556bc74e63" /><Relationship Type="http://schemas.openxmlformats.org/officeDocument/2006/relationships/image" Target="/ppt/media/image.png" Id="R3261cc49dde44ebb" /><Relationship Type="http://schemas.openxmlformats.org/officeDocument/2006/relationships/notesSlide" Target="/ppt/notesSlides/notesSlide1.xml" Id="R377329d9bac7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932ebc0d4bb2" /><Relationship Type="http://schemas.openxmlformats.org/officeDocument/2006/relationships/notesSlide" Target="/ppt/notesSlides/notesSlide2.xml" Id="R0ff9c2c616aa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87442a898495b" /><Relationship Type="http://schemas.openxmlformats.org/officeDocument/2006/relationships/notesSlide" Target="/ppt/notesSlides/notesSlide3.xml" Id="R3a6068b88db64e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696fe000a4f19" /><Relationship Type="http://schemas.openxmlformats.org/officeDocument/2006/relationships/notesSlide" Target="/ppt/notesSlides/notesSlide4.xml" Id="Re5b2b24453b946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659fb628409f" /><Relationship Type="http://schemas.openxmlformats.org/officeDocument/2006/relationships/notesSlide" Target="/ppt/notesSlides/notesSlide5.xml" Id="R6673a80f7dd34f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ed56b2d29442e" /><Relationship Type="http://schemas.openxmlformats.org/officeDocument/2006/relationships/notesSlide" Target="/ppt/notesSlides/notesSlide6.xml" Id="Rc80c33c168cb43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a25adff54352" /><Relationship Type="http://schemas.openxmlformats.org/officeDocument/2006/relationships/notesSlide" Target="/ppt/notesSlides/notesSlide7.xml" Id="R3fa98c66f69245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24389d44c4cda" /><Relationship Type="http://schemas.openxmlformats.org/officeDocument/2006/relationships/notesSlide" Target="/ppt/notesSlides/notesSlide8.xml" Id="R2b4351984f064b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0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1cc49dde44eb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21445-5C5C-4F54-B062-9F227F4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4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0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7C882-6597-4048-978A-C4B101A9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2333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0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BC544-8F57-4F8B-AD88-767BE4E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B35B"/>
                </a:solidFill>
              </a:defRPr>
            </a:pPr>
            <a:r>
              <a:rPr sz="900" b="1">
                <a:solidFill>
                  <a:srgbClr val="F0B35B"/>
                </a:solidFill>
              </a:rPr>
              <a:t>FIXNOW /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B0D58-7A55-4D25-82A3-837748C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0E8"/>
                </a:solidFill>
              </a:defRPr>
            </a:pPr>
            <a:r>
              <a:rPr sz="4950" b="1">
                <a:solidFill>
                  <a:srgbClr val="F7F0E8"/>
                </a:solidFill>
              </a:rPr>
              <a:t>Care,</a:t>
            </a:r>
          </a:p>
          <a:p xmlns:a="http://schemas.openxmlformats.org/drawingml/2006/main">
            <a:pPr algn="l">
              <a:defRPr sz="4950" b="1">
                <a:solidFill>
                  <a:srgbClr val="F7F0E8"/>
                </a:solidFill>
              </a:defRPr>
            </a:pPr>
            <a:r>
              <a:rPr sz="4950" b="1">
                <a:solidFill>
                  <a:srgbClr val="F7F0E8"/>
                </a:solidFill>
              </a:rPr>
              <a:t>connected.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62D12-6347-4527-9692-AAA46717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F"/>
                </a:solidFill>
              </a:defRPr>
            </a:pPr>
            <a:r>
              <a:rPr sz="1650" b="0">
                <a:solidFill>
                  <a:srgbClr val="E8D9DF"/>
                </a:solidFill>
              </a:rPr>
              <a:t>A trusted way to connect people with the local help they need — with clarity at every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1F59C-4B02-4C2D-BF2C-2EFEE20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4003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37A9-1106-4995-B942-83C5163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0E8"/>
                </a:solidFill>
              </a:defRPr>
            </a:pPr>
            <a:r>
              <a:rPr sz="1200" b="1">
                <a:solidFill>
                  <a:srgbClr val="F7F0E8"/>
                </a:solidFill>
              </a:rPr>
              <a:t>Customer  ·  Provider  · 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F352E-91E3-484D-B611-79805A26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722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C3B5"/>
                </a:solidFill>
              </a:defRPr>
            </a:pPr>
            <a:r>
              <a:rPr sz="900" b="1">
                <a:solidFill>
                  <a:srgbClr val="E7C3B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613475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8018F-F2A8-4F81-9A36-D040D95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THE HUMAN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8DB7B-6E81-48CB-BDFA-8E34722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261C25"/>
                </a:solidFill>
              </a:defRPr>
            </a:pPr>
            <a:r>
              <a:rPr sz="3975" b="1">
                <a:solidFill>
                  <a:srgbClr val="261C25"/>
                </a:solidFill>
              </a:rPr>
              <a:t>When help is needed,</a:t>
            </a:r>
          </a:p>
          <a:p xmlns:a="http://schemas.openxmlformats.org/drawingml/2006/main">
            <a:pPr algn="l">
              <a:defRPr sz="3975" b="1">
                <a:solidFill>
                  <a:srgbClr val="261C25"/>
                </a:solidFill>
              </a:defRPr>
            </a:pPr>
            <a:r>
              <a:rPr sz="3975" b="1">
                <a:solidFill>
                  <a:srgbClr val="261C25"/>
                </a:solidFill>
              </a:rPr>
              <a:t>uncertainty is the real friction.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02A9A-BB38-4AE6-A246-2F7C421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770"/>
                </a:solidFill>
              </a:defRPr>
            </a:pPr>
            <a:r>
              <a:rPr sz="1575" b="0">
                <a:solidFill>
                  <a:srgbClr val="756770"/>
                </a:solidFill>
              </a:rPr>
              <a:t>The search for a local service professional is often fragmented, hard to trust, and difficult to follow once a request is made.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AFB24-7090-466D-9009-19E10D67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4217A-5262-4671-AF57-AF26454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43E4D-24FA-4C44-9218-90B62DA2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1C25"/>
                </a:solidFill>
              </a:defRPr>
            </a:pPr>
            <a:r>
              <a:rPr sz="2250" b="1">
                <a:solidFill>
                  <a:srgbClr val="261C25"/>
                </a:solidFill>
              </a:rPr>
              <a:t>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B91E0-DA20-4425-8753-03739805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770"/>
                </a:solidFill>
              </a:defRPr>
            </a:pPr>
            <a:r>
              <a:rPr sz="1275" b="0">
                <a:solidFill>
                  <a:srgbClr val="756770"/>
                </a:solidFill>
              </a:rPr>
              <a:t>Too many calls, too little certainty.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52621-58D6-49C1-B7DD-228D6C6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62425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4CAC4-4D7D-4DD1-A578-1C99261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0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1986A-8F85-46A8-8424-859EAE75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1C25"/>
                </a:solidFill>
              </a:defRPr>
            </a:pPr>
            <a:r>
              <a:rPr sz="2250" b="1">
                <a:solidFill>
                  <a:srgbClr val="261C25"/>
                </a:solidFill>
              </a:rPr>
              <a:t>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779DE-A388-410C-B870-5CF7C023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770"/>
                </a:solidFill>
              </a:defRPr>
            </a:pPr>
            <a:r>
              <a:rPr sz="1275" b="0">
                <a:solidFill>
                  <a:srgbClr val="756770"/>
                </a:solidFill>
              </a:rPr>
              <a:t>Availability is not the same as eligibility.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69ADE-FCFD-44C7-A60E-827FB68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62425"/>
            <a:ext cx="2857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DEBBA-8CA6-46AA-B2A5-3F5595D8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10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95CEE-D84D-4393-B57F-A5C4DB1C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1C25"/>
                </a:solidFill>
              </a:defRPr>
            </a:pPr>
            <a:r>
              <a:rPr sz="2250" b="1">
                <a:solidFill>
                  <a:srgbClr val="261C25"/>
                </a:solidFill>
              </a:rPr>
              <a:t>Wait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6566-34D3-496A-BFC7-A9D876A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197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770"/>
                </a:solidFill>
              </a:defRPr>
            </a:pPr>
            <a:r>
              <a:rPr sz="1275" b="0">
                <a:solidFill>
                  <a:srgbClr val="756770"/>
                </a:solidFill>
              </a:rPr>
              <a:t>After a request, silence becomes stress.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4ADFA-7CD3-46E1-A536-CC4932E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1A3F4-428E-483B-A644-535754E1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7912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60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C8867-F767-4484-8EBE-708CEE4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A384"/>
                </a:solidFill>
              </a:defRPr>
            </a:pPr>
            <a:r>
              <a:rPr sz="900" b="1">
                <a:solidFill>
                  <a:srgbClr val="EFA384"/>
                </a:solidFill>
              </a:rPr>
              <a:t>THE FIXNOW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01DD2-A271-4CF3-9635-0E470B4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A single experience</a:t>
            </a:r>
          </a:p>
          <a:p xmlns:a="http://schemas.openxmlformats.org/drawingml/2006/main">
            <a:pPr algn="l"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that makes help feel certain.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F6EFA-63B7-47D8-A5D7-D8DDF7B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EC8D4"/>
                </a:solidFill>
              </a:defRPr>
            </a:pPr>
            <a:r>
              <a:rPr sz="1425" b="0">
                <a:solidFill>
                  <a:srgbClr val="DEC8D4"/>
                </a:solidFill>
              </a:rPr>
              <a:t>FixNow brings service discovery, booking coordination, and operational oversight into one connected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3A556-2402-4AF1-BD04-17E6FD39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A1F69-F40E-4A44-A9CF-89343E0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0EECE-78DF-4103-AD96-55C9546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0E8"/>
                </a:solidFill>
              </a:defRPr>
            </a:pPr>
            <a:r>
              <a:rPr sz="2175" b="1">
                <a:solidFill>
                  <a:srgbClr val="F7F0E8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35BC-D8F7-4C96-A5F1-5D0FED4C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C0D0"/>
                </a:solidFill>
              </a:defRPr>
            </a:pPr>
            <a:r>
              <a:rPr sz="1275" b="0">
                <a:solidFill>
                  <a:srgbClr val="D9C0D0"/>
                </a:solidFill>
              </a:rPr>
              <a:t>Find the right service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91D5F-5664-4517-A0A6-B5F6C35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52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38EF5-8E37-4587-BD94-EC3A9763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0E8"/>
                </a:solidFill>
              </a:defRPr>
            </a:pPr>
            <a:r>
              <a:rPr sz="2175" b="1">
                <a:solidFill>
                  <a:srgbClr val="F7F0E8"/>
                </a:solidFill>
              </a:rPr>
              <a:t>Coordinate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3DE55-9056-4F92-9874-7A5D753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815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C0D0"/>
                </a:solidFill>
              </a:defRPr>
            </a:pPr>
            <a:r>
              <a:rPr sz="1275" b="0">
                <a:solidFill>
                  <a:srgbClr val="D9C0D0"/>
                </a:solidFill>
              </a:rPr>
              <a:t>Keep every participant informed.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BFFC1-1746-4005-829D-5984F1D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B6A25-329F-4ABA-A568-EB2D410A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43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0E8"/>
                </a:solidFill>
              </a:defRPr>
            </a:pPr>
            <a:r>
              <a:rPr sz="2175" b="1">
                <a:solidFill>
                  <a:srgbClr val="F7F0E8"/>
                </a:solidFill>
              </a:rPr>
              <a:t>Deliver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3835B-ABFA-42B8-8923-6040F56B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C0D0"/>
                </a:solidFill>
              </a:defRPr>
            </a:pPr>
            <a:r>
              <a:rPr sz="1275" b="0">
                <a:solidFill>
                  <a:srgbClr val="D9C0D0"/>
                </a:solidFill>
              </a:rPr>
              <a:t>Move from request to a clear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92674-82AB-40D0-A0F0-1ACD79B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AFC3"/>
                </a:solidFill>
              </a:defRPr>
            </a:pPr>
            <a:r>
              <a:rPr sz="750" b="1">
                <a:solidFill>
                  <a:srgbClr val="CFAFC3"/>
                </a:solidFill>
              </a:rPr>
              <a:t>FIXNOW  /  PROJECT 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2628F-4F84-4851-B879-06A3A1B7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FAFC3"/>
                </a:solidFill>
              </a:defRPr>
            </a:pPr>
            <a:r>
              <a:rPr sz="825" b="1">
                <a:solidFill>
                  <a:srgbClr val="CFAFC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5372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4C06B-61AB-4944-A5CA-82E18A4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CUSTOMER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DFFD4-C20F-441F-89B2-445346F2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A calm path from</a:t>
            </a:r>
          </a:p>
          <a:p xmlns:a="http://schemas.openxmlformats.org/drawingml/2006/main">
            <a:pPr algn="l"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need to resolution.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6D479-765A-458C-8560-BA8132BB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770"/>
                </a:solidFill>
              </a:defRPr>
            </a:pPr>
            <a:r>
              <a:rPr sz="1425" b="0">
                <a:solidFill>
                  <a:srgbClr val="756770"/>
                </a:solidFill>
              </a:rPr>
              <a:t>Every point in the journey is designed to answer the next question before it becomes a worry.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A2241-5818-4918-9CDA-5998A9E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7521F-44A0-4425-B60D-1366781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19050">
            <a:solidFill>
              <a:srgbClr val="DD7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E5CF1-4610-450A-BB1C-8829063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</a:defRPr>
            </a:pPr>
            <a:r>
              <a:rPr sz="975" b="1">
                <a:solidFill>
                  <a:srgbClr val="FFFDF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CB0CA-D507-4980-A2D0-09642F1B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Tell us what you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D51FC-1779-4961-8820-1BD6FA4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770"/>
                </a:solidFill>
              </a:defRPr>
            </a:pPr>
            <a:r>
              <a:rPr sz="1200" b="0">
                <a:solidFill>
                  <a:srgbClr val="756770"/>
                </a:solidFill>
              </a:rPr>
              <a:t>Service category and essential request details.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9567-0B99-4B4C-A3E6-F4A6DAA4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261C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B1068-89B4-448A-ADCE-02BCF1B1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1C25"/>
                </a:solidFill>
              </a:defRPr>
            </a:pPr>
            <a:r>
              <a:rPr sz="975" b="1">
                <a:solidFill>
                  <a:srgbClr val="261C2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722AA-BC8A-4CB1-B46E-817F193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Stay informed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B2F8F-3C86-40D1-B8D5-F4774D6D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770"/>
                </a:solidFill>
              </a:defRPr>
            </a:pPr>
            <a:r>
              <a:rPr sz="1200" b="0">
                <a:solidFill>
                  <a:srgbClr val="756770"/>
                </a:solidFill>
              </a:rPr>
              <a:t>Truthful booking status, without manual chasing.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68F72-CCB0-4642-B457-AAE5E57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261C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A3482-5C51-4E5C-9217-6608E061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1C25"/>
                </a:solidFill>
              </a:defRPr>
            </a:pPr>
            <a:r>
              <a:rPr sz="975" b="1">
                <a:solidFill>
                  <a:srgbClr val="261C2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0E527-0B53-4163-AD32-E9B827E0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See only what is permitted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55552-18F3-4A66-A26C-ECF39213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770"/>
                </a:solidFill>
              </a:defRPr>
            </a:pPr>
            <a:r>
              <a:rPr sz="1200" b="0">
                <a:solidFill>
                  <a:srgbClr val="756770"/>
                </a:solidFill>
              </a:rPr>
              <a:t>Fresh provider location only when active tracking is authorized.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1545C-D02D-4787-ABB4-393FCB3E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261C2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04F9A-CD1A-4821-9A91-91A8756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1C25"/>
                </a:solidFill>
              </a:defRPr>
            </a:pPr>
            <a:r>
              <a:rPr sz="975" b="1">
                <a:solidFill>
                  <a:srgbClr val="261C2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EF07D-AE3A-4776-BE20-3C6E8B8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Know the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84555-A223-4078-9FDF-99FEA35B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2286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56770"/>
                </a:solidFill>
              </a:defRPr>
            </a:pPr>
            <a:r>
              <a:rPr sz="1200" b="0">
                <a:solidFill>
                  <a:srgbClr val="756770"/>
                </a:solidFill>
              </a:rPr>
              <a:t>Authoritative service state carries through the end of the booking.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92713-C6EA-4883-A4DC-F2FF731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227A1-5667-4ABC-9E1A-58781012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5721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E1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C0A34-946D-4666-AE95-006227FD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A384"/>
                </a:solidFill>
              </a:defRPr>
            </a:pPr>
            <a:r>
              <a:rPr sz="900" b="1">
                <a:solidFill>
                  <a:srgbClr val="EFA384"/>
                </a:solidFill>
              </a:rPr>
              <a:t>PROVIDER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FAF6-4EAC-471C-BF95-44D90D32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Workflows that respect</a:t>
            </a:r>
          </a:p>
          <a:p xmlns:a="http://schemas.openxmlformats.org/drawingml/2006/main">
            <a:pPr algn="l">
              <a:defRPr sz="3600" b="1">
                <a:solidFill>
                  <a:srgbClr val="F7F0E8"/>
                </a:solidFill>
              </a:defRPr>
            </a:pPr>
            <a:r>
              <a:rPr sz="3600" b="1">
                <a:solidFill>
                  <a:srgbClr val="F7F0E8"/>
                </a:solidFill>
              </a:rPr>
              <a:t>a professional’s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60BD-1F17-4F9E-8525-274CF0B2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EC8D4"/>
                </a:solidFill>
              </a:defRPr>
            </a:pPr>
            <a:r>
              <a:rPr sz="1425" b="0">
                <a:solidFill>
                  <a:srgbClr val="DEC8D4"/>
                </a:solidFill>
              </a:rPr>
              <a:t>The provider side is built around being ready, responding clearly, and sharing only what is necessary.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C2818-A3C2-46D6-B0B2-B686812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90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39877-84CC-4813-8198-1DC4636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527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0E8"/>
                </a:solidFill>
              </a:defRPr>
            </a:pPr>
            <a:r>
              <a:rPr sz="2025" b="1">
                <a:solidFill>
                  <a:srgbClr val="F7F0E8"/>
                </a:solidFill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28DF1-EEA8-441F-B006-207F7513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C8D6"/>
                </a:solidFill>
              </a:defRPr>
            </a:pPr>
            <a:r>
              <a:rPr sz="1200" b="0">
                <a:solidFill>
                  <a:srgbClr val="DFC8D6"/>
                </a:solidFill>
              </a:rPr>
              <a:t>Eligibility and availability shape participation.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A2555-4D69-40F5-BEC9-B9872C6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33825"/>
            <a:ext cx="3886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55A87-9EC4-4668-8422-9D3650C6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340DA-30B3-43D6-B4DE-299A2340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0E8"/>
                </a:solidFill>
              </a:defRPr>
            </a:pPr>
            <a:r>
              <a:rPr sz="2025" b="1">
                <a:solidFill>
                  <a:srgbClr val="F7F0E8"/>
                </a:solidFill>
              </a:rPr>
              <a:t>Responsive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E6DEA-1A76-48EE-B025-BCC2E6DD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C8D6"/>
                </a:solidFill>
              </a:defRPr>
            </a:pPr>
            <a:r>
              <a:rPr sz="1200" b="0">
                <a:solidFill>
                  <a:srgbClr val="DFC8D6"/>
                </a:solidFill>
              </a:rPr>
              <a:t>Assignments and service status remain clear.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8627B-24FB-40A3-ABD6-B8000CA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38700"/>
            <a:ext cx="3886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BC405-10D4-4EB7-BBDA-012AFE56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00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D4FE6-8976-45C4-BF1A-3F04256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62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0E8"/>
                </a:solidFill>
              </a:defRPr>
            </a:pPr>
            <a:r>
              <a:rPr sz="2025" b="1">
                <a:solidFill>
                  <a:srgbClr val="F7F0E8"/>
                </a:solidFill>
              </a:rPr>
              <a:t>In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6D79D-1CE4-4582-9635-D3BBCCD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C8D6"/>
                </a:solidFill>
              </a:defRPr>
            </a:pPr>
            <a:r>
              <a:rPr sz="1200" b="0">
                <a:solidFill>
                  <a:srgbClr val="DFC8D6"/>
                </a:solidFill>
              </a:rPr>
              <a:t>Live location is purpose-limited and revocable.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8C292-2859-45AF-9CE3-5FFBDA9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743575"/>
            <a:ext cx="3886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1567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CD8ED-3606-4F26-B603-956A304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AFC3"/>
                </a:solidFill>
              </a:defRPr>
            </a:pPr>
            <a:r>
              <a:rPr sz="750" b="1">
                <a:solidFill>
                  <a:srgbClr val="CFAFC3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6F919-B8BD-4933-B6BC-45036677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FAFC3"/>
                </a:solidFill>
              </a:defRPr>
            </a:pPr>
            <a:r>
              <a:rPr sz="825" b="1">
                <a:solidFill>
                  <a:srgbClr val="CFAFC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1684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64FF5-033A-4BA1-B532-484E9EE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TRUST IS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04A0-0FDC-4338-A5E7-C6B140D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Real-time service needs</a:t>
            </a:r>
          </a:p>
          <a:p xmlns:a="http://schemas.openxmlformats.org/drawingml/2006/main">
            <a:pPr algn="l"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real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9B360-86B4-46B2-BBC3-A2F60E9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770"/>
                </a:solidFill>
              </a:defRPr>
            </a:pPr>
            <a:r>
              <a:rPr sz="1425" b="0">
                <a:solidFill>
                  <a:srgbClr val="756770"/>
                </a:solidFill>
              </a:rPr>
              <a:t>FixNow is designed so safety and privacy remain visible in the experience, not hidden behind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6C262-F263-4CF0-A844-5FE28833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EA780-9200-4FF1-AF7A-0B157B1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1C25"/>
                </a:solidFill>
              </a:defRPr>
            </a:pPr>
            <a:r>
              <a:rPr sz="2025" b="1">
                <a:solidFill>
                  <a:srgbClr val="261C25"/>
                </a:solidFill>
              </a:rPr>
              <a:t>Access is specific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0BBE9-FF31-417D-89BA-E20358CE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770"/>
                </a:solidFill>
              </a:defRPr>
            </a:pPr>
            <a:r>
              <a:rPr sz="1275" b="0">
                <a:solidFill>
                  <a:srgbClr val="756770"/>
                </a:solidFill>
              </a:rPr>
              <a:t>Permissions are enforced by role, ownership, and current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3E56-EC70-475F-B848-91B8A8D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62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A89BB-16CF-40A5-B237-EAB7C0F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C5355-2EF7-45DB-84A4-8E1F1564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1C25"/>
                </a:solidFill>
              </a:defRPr>
            </a:pPr>
            <a:r>
              <a:rPr sz="2025" b="1">
                <a:solidFill>
                  <a:srgbClr val="261C25"/>
                </a:solidFill>
              </a:rPr>
              <a:t>Location is bounded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FC5E1-FE9D-4030-B3FE-494DA17D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770"/>
                </a:solidFill>
              </a:defRPr>
            </a:pPr>
            <a:r>
              <a:rPr sz="1275" b="0">
                <a:solidFill>
                  <a:srgbClr val="756770"/>
                </a:solidFill>
              </a:rPr>
              <a:t>Precise location is only visible to authorized booking participants during approved service states.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4BDBA-4D06-474C-BE30-1378B7E3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962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3A883-5653-4321-B60D-58B44CB5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D410F-5D63-4527-872A-AF78998B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261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1C25"/>
                </a:solidFill>
              </a:defRPr>
            </a:pPr>
            <a:r>
              <a:rPr sz="2025" b="1">
                <a:solidFill>
                  <a:srgbClr val="261C25"/>
                </a:solidFill>
              </a:rPr>
              <a:t>Updates are honest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7417E-5154-4096-8B96-E3BDACD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911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770"/>
                </a:solidFill>
              </a:defRPr>
            </a:pPr>
            <a:r>
              <a:rPr sz="1275" b="0">
                <a:solidFill>
                  <a:srgbClr val="756770"/>
                </a:solidFill>
              </a:rPr>
              <a:t>Fast real-time events reconcile back to authoritative backend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0A141-B3A3-4745-9ED1-8FC921B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62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55DEF-204D-437C-9D14-FE315349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AAFB9-B77C-49B5-AC14-97DB0F8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0008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FBF38-C131-44DF-A960-2EABC6D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7654"/>
                </a:solidFill>
              </a:defRPr>
            </a:pPr>
            <a:r>
              <a:rPr sz="900" b="1">
                <a:solidFill>
                  <a:srgbClr val="DD7654"/>
                </a:solidFill>
              </a:rPr>
              <a:t>TECHNOLOGY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4AF40-962C-46ED-9F1F-6C27EE09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Built as a platform,</a:t>
            </a:r>
          </a:p>
          <a:p xmlns:a="http://schemas.openxmlformats.org/drawingml/2006/main">
            <a:pPr algn="l">
              <a:defRPr sz="3600" b="1">
                <a:solidFill>
                  <a:srgbClr val="261C25"/>
                </a:solidFill>
              </a:defRPr>
            </a:pPr>
            <a:r>
              <a:rPr sz="3600" b="1">
                <a:solidFill>
                  <a:srgbClr val="261C25"/>
                </a:solidFill>
              </a:rPr>
              <a:t>not a collection of screens.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3509A-211F-45DB-AA66-8BDCB91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56770"/>
                </a:solidFill>
              </a:defRPr>
            </a:pPr>
            <a:r>
              <a:rPr sz="1425" b="0">
                <a:solidFill>
                  <a:srgbClr val="756770"/>
                </a:solidFill>
              </a:rPr>
              <a:t>Clear system boundaries keep the product dependable today and adaptable as it grows.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28F42-3DF1-424D-AE94-D6164FF6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EFB98-A54D-4D84-A0D3-F3254F3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Flutter + Dart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90CF7-D2A5-4EC0-88A5-19635EF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52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Role-aware mobile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157ED-36D3-4A2D-A11D-EFB55BA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3595-B2B4-409D-8843-79A6DC9D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C0A3-3BC2-4EF7-9DA3-8EA5510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NestJS + 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DA53D-F4BA-4E86-94CF-E3A97221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Versioned APIs and domain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99DFF-FA14-4B8B-BB3B-5E61000F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192F8-F707-4C1E-A180-C2BB0CD4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097DF-F210-4399-A64E-8A7209E1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PostgreSQL + TypeORM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DF056-2993-4FA9-A693-0A7050F6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052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Authoritative data and migrations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1094F-9259-4805-9F94-0FD4B7F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D3AA5-B55D-4B4D-83A3-0B28F138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E5689-A21B-4D7B-A9D3-24C91DE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Redis + WebSockets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D61D-C54D-465E-862B-77F65EF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052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Ephemeral state and live projections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B597A-EAFB-4B95-8853-54D1D23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7B4A9-9BFD-4DFB-ADCE-D4F0F847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79134-0F18-429C-8604-1580B77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Next.js + TypeScript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67003-63AA-49EC-BF6F-0B91D8A2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57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Operational web surface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D7F1A-33E9-4900-8585-853AEA40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AFF6F-016B-47C9-879D-F5A8B16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7654"/>
                </a:solidFill>
              </a:defRPr>
            </a:pPr>
            <a:r>
              <a:rPr sz="1050" b="1">
                <a:solidFill>
                  <a:srgbClr val="DD7654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B1E9E-71C1-4C46-8631-45F93A1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053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1C25"/>
                </a:solidFill>
              </a:defRPr>
            </a:pPr>
            <a:r>
              <a:rPr sz="1800" b="1">
                <a:solidFill>
                  <a:srgbClr val="261C25"/>
                </a:solidFill>
              </a:rPr>
              <a:t>Google Maps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F9496-26FD-450C-97A7-ECB3AA7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5777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770"/>
                </a:solidFill>
              </a:defRPr>
            </a:pPr>
            <a:r>
              <a:rPr sz="1125" b="0">
                <a:solidFill>
                  <a:srgbClr val="756770"/>
                </a:solidFill>
              </a:rPr>
              <a:t>Maps and routing through an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541753-BCFA-4336-A30A-939FFE59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76875"/>
            <a:ext cx="4572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9C9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FBAC7-FDB6-4224-B98F-FE85861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56770"/>
                </a:solidFill>
              </a:defRPr>
            </a:pPr>
            <a:r>
              <a:rPr sz="750" b="1">
                <a:solidFill>
                  <a:srgbClr val="756770"/>
                </a:solidFill>
              </a:rPr>
              <a:t>FIXNOW  /  PROJECT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2A0FF-AADE-4099-AD7E-A084334C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56770"/>
                </a:solidFill>
              </a:defRPr>
            </a:pPr>
            <a:r>
              <a:rPr sz="825" b="1">
                <a:solidFill>
                  <a:srgbClr val="7567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7115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60B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92F48-736D-41BC-BF47-2C5B798E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B35B"/>
                </a:solidFill>
              </a:defRPr>
            </a:pPr>
            <a:r>
              <a:rPr sz="900" b="1">
                <a:solidFill>
                  <a:srgbClr val="F0B35B"/>
                </a:solidFill>
              </a:rPr>
              <a:t>THE FIXNOW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F6B33-0EFB-4411-84B3-D12EE67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9675"/>
            <a:ext cx="6905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0E8"/>
                </a:solidFill>
              </a:defRPr>
            </a:pPr>
            <a:r>
              <a:rPr sz="4350" b="1">
                <a:solidFill>
                  <a:srgbClr val="F7F0E8"/>
                </a:solidFill>
              </a:rPr>
              <a:t>Help should feel</a:t>
            </a:r>
          </a:p>
          <a:p xmlns:a="http://schemas.openxmlformats.org/drawingml/2006/main">
            <a:pPr algn="l">
              <a:defRPr sz="4350" b="1">
                <a:solidFill>
                  <a:srgbClr val="F7F0E8"/>
                </a:solidFill>
              </a:defRPr>
            </a:pPr>
            <a:r>
              <a:rPr sz="4350" b="1">
                <a:solidFill>
                  <a:srgbClr val="F7F0E8"/>
                </a:solidFill>
              </a:rPr>
              <a:t>closer, clearer,</a:t>
            </a:r>
          </a:p>
          <a:p xmlns:a="http://schemas.openxmlformats.org/drawingml/2006/main">
            <a:pPr algn="l">
              <a:defRPr sz="4350" b="1">
                <a:solidFill>
                  <a:srgbClr val="F7F0E8"/>
                </a:solidFill>
              </a:defRPr>
            </a:pPr>
            <a:r>
              <a:rPr sz="4350" b="1">
                <a:solidFill>
                  <a:srgbClr val="F7F0E8"/>
                </a:solidFill>
              </a:rPr>
              <a:t>and more human.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F08D8-E748-49F3-909F-7EB8BA2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D2DC"/>
                </a:solidFill>
              </a:defRPr>
            </a:pPr>
            <a:r>
              <a:rPr sz="1650" b="0">
                <a:solidFill>
                  <a:srgbClr val="E5D2DC"/>
                </a:solidFill>
              </a:rPr>
              <a:t>FixNow connects the people, workflows, and real-time signals behind a dependable local-services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44F77-B759-427E-926D-4C57EC7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45910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D765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EAEF6-ED4B-4552-AFB6-6A8B284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CLEAR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4CF9E-FF22-41CC-B7C4-A530CDD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TRUSTED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4A05C-B99A-494C-812D-5AB95356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35B"/>
                </a:solidFill>
              </a:defRPr>
            </a:pPr>
            <a:r>
              <a:rPr sz="1050" b="1">
                <a:solidFill>
                  <a:srgbClr val="F0B35B"/>
                </a:solidFill>
              </a:rPr>
              <a:t>CONNECTED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6F6C3-4200-41CC-A9EC-B7033F1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AFC3"/>
                </a:solidFill>
              </a:defRPr>
            </a:pPr>
            <a:r>
              <a:rPr sz="750" b="1">
                <a:solidFill>
                  <a:srgbClr val="CFAFC3"/>
                </a:solidFill>
              </a:rPr>
              <a:t>FIXNOW  /  PROJECT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5AF42-A35D-45B5-9950-31CAFA44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FAFC3"/>
                </a:solidFill>
              </a:defRPr>
            </a:pPr>
            <a:r>
              <a:rPr sz="825" b="1">
                <a:solidFill>
                  <a:srgbClr val="CFAFC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3850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2026-08-20T19:23:52.9150000Z</dcterms:created>
  <dcterms:modified xsi:type="dcterms:W3CDTF">2026-08-20T19:23:52.9150000Z</dcterms:modified>
</coreProperties>
</file>